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34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283842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274320"/>
            <a:ext cx="2194560" cy="365760"/>
          </a:xfrm>
          <a:prstGeom prst="rect">
            <a:avLst/>
          </a:prstGeom>
          <a:solidFill>
            <a:srgbClr val="1B6CA8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365760" y="2743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C# .NET 8 — FOR FRESHERS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77724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Encapsulation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502920" y="150876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Properties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502920" y="228600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Inheritance &amp; Polymorphism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502920" y="3063240"/>
            <a:ext cx="5029200" cy="36576"/>
          </a:xfrm>
          <a:prstGeom prst="rect">
            <a:avLst/>
          </a:prstGeom>
          <a:solidFill>
            <a:srgbClr val="1B6CA8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320040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B0BEC5"/>
                </a:solidFill>
              </a:rPr>
              <a:t>Object-Oriented Programming in Modern C#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498080" y="640080"/>
            <a:ext cx="1371600" cy="914400"/>
          </a:xfrm>
          <a:prstGeom prst="rect">
            <a:avLst/>
          </a:prstGeom>
          <a:solidFill>
            <a:srgbClr val="132438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498080" y="640080"/>
            <a:ext cx="54864" cy="914400"/>
          </a:xfrm>
          <a:prstGeom prst="rect">
            <a:avLst/>
          </a:prstGeom>
          <a:solidFill>
            <a:srgbClr val="FF6B35"/>
          </a:solidFill>
          <a:ln/>
        </p:spPr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822960"/>
            <a:ext cx="365760" cy="36576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8001000" y="86868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Encapsulation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7498080" y="1828800"/>
            <a:ext cx="1371600" cy="914400"/>
          </a:xfrm>
          <a:prstGeom prst="rect">
            <a:avLst/>
          </a:prstGeom>
          <a:solidFill>
            <a:srgbClr val="132438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7498080" y="1828800"/>
            <a:ext cx="54864" cy="914400"/>
          </a:xfrm>
          <a:prstGeom prst="rect">
            <a:avLst/>
          </a:prstGeom>
          <a:solidFill>
            <a:srgbClr val="FF6B35"/>
          </a:solidFill>
          <a:ln/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9520" y="2011680"/>
            <a:ext cx="365760" cy="36576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8001000" y="20574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Inheritance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7498080" y="3017520"/>
            <a:ext cx="1371600" cy="914400"/>
          </a:xfrm>
          <a:prstGeom prst="rect">
            <a:avLst/>
          </a:prstGeom>
          <a:solidFill>
            <a:srgbClr val="132438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7498080" y="3017520"/>
            <a:ext cx="54864" cy="914400"/>
          </a:xfrm>
          <a:prstGeom prst="rect">
            <a:avLst/>
          </a:prstGeom>
          <a:solidFill>
            <a:srgbClr val="FF6B35"/>
          </a:solidFill>
          <a:ln/>
        </p:spPr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89520" y="3200400"/>
            <a:ext cx="365760" cy="36576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8001000" y="32461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Polymorphism</a:t>
            </a:r>
            <a:endParaRPr lang="en-US" sz="1100" dirty="0"/>
          </a:p>
        </p:txBody>
      </p:sp>
      <p:sp>
        <p:nvSpPr>
          <p:cNvPr id="22" name="Text 17"/>
          <p:cNvSpPr/>
          <p:nvPr/>
        </p:nvSpPr>
        <p:spPr>
          <a:xfrm>
            <a:off x="502920" y="46634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46E7A"/>
                </a:solidFill>
              </a:rPr>
              <a:t>A Beginner's Guide to Writing Clean, Reusable .NET 8 Code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6CA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🔒  What is Encapsulation?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8595360" cy="1005840"/>
          </a:xfrm>
          <a:prstGeom prst="rect">
            <a:avLst/>
          </a:prstGeom>
          <a:solidFill>
            <a:srgbClr val="132438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22960"/>
            <a:ext cx="64008" cy="100584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841248"/>
            <a:ext cx="8138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8F4FD"/>
                </a:solidFill>
              </a:rPr>
              <a:t>Encapsulation = Bundling data (fields) + behavior (methods) inside a class, and controlling who can access them. Think of it like a capsule pill — the medicine is inside, protected from the outside.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" y="1920240"/>
            <a:ext cx="2697480" cy="2651760"/>
          </a:xfrm>
          <a:prstGeom prst="rect">
            <a:avLst/>
          </a:prstGeom>
          <a:solidFill>
            <a:srgbClr val="132438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920240"/>
            <a:ext cx="2697480" cy="64008"/>
          </a:xfrm>
          <a:prstGeom prst="rect">
            <a:avLst/>
          </a:prstGeom>
          <a:solidFill>
            <a:srgbClr val="FF6B35"/>
          </a:solidFill>
          <a:ln/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057400"/>
            <a:ext cx="502920" cy="5029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051560" y="205740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6B35"/>
                </a:solidFill>
              </a:rPr>
              <a:t>Private Fields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411480" y="2651760"/>
            <a:ext cx="24231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F4FD"/>
                </a:solidFill>
              </a:rPr>
              <a:t>Hide raw data from outside code. Other classes can't directly touch your variables.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3154680" y="1920240"/>
            <a:ext cx="2697480" cy="2651760"/>
          </a:xfrm>
          <a:prstGeom prst="rect">
            <a:avLst/>
          </a:prstGeom>
          <a:solidFill>
            <a:srgbClr val="132438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154680" y="1920240"/>
            <a:ext cx="2697480" cy="64008"/>
          </a:xfrm>
          <a:prstGeom prst="rect">
            <a:avLst/>
          </a:prstGeom>
          <a:solidFill>
            <a:srgbClr val="1B6CA8"/>
          </a:solidFill>
          <a:ln/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37560" y="2057400"/>
            <a:ext cx="502920" cy="50292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931920" y="205740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6CA8"/>
                </a:solidFill>
              </a:rPr>
              <a:t>Properties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3291840" y="2651760"/>
            <a:ext cx="24231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F4FD"/>
                </a:solidFill>
              </a:rPr>
              <a:t>Controlled gateways to private fields. Use get/set to read and write safely.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6035040" y="1920240"/>
            <a:ext cx="2697480" cy="2651760"/>
          </a:xfrm>
          <a:prstGeom prst="rect">
            <a:avLst/>
          </a:prstGeom>
          <a:solidFill>
            <a:srgbClr val="132438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6035040" y="1920240"/>
            <a:ext cx="2697480" cy="64008"/>
          </a:xfrm>
          <a:prstGeom prst="rect">
            <a:avLst/>
          </a:prstGeom>
          <a:solidFill>
            <a:srgbClr val="00BFA5"/>
          </a:solidFill>
          <a:ln/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7920" y="2057400"/>
            <a:ext cx="502920" cy="50292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812280" y="205740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BFA5"/>
                </a:solidFill>
              </a:rPr>
              <a:t>Access Modifiers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6172200" y="2651760"/>
            <a:ext cx="24231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F4FD"/>
                </a:solidFill>
              </a:rPr>
              <a:t>Keywords like public, private, protected tell C# who can see what.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274320" y="4663440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FF6B35"/>
                </a:solidFill>
              </a:rPr>
              <a:t>💡 Rule of thumb: Keep fields private. Expose only what's needed.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🔑  Properties in C# .NET 8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4846320" cy="4023360"/>
          </a:xfrm>
          <a:prstGeom prst="rect">
            <a:avLst/>
          </a:prstGeom>
          <a:solidFill>
            <a:srgbClr val="1A2E45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88696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C# Property — Full syntax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347472" y="1188720"/>
            <a:ext cx="46634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BankAccount
{
</a:t>
            </a: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private decimal </a:t>
            </a:r>
            <a:r>
              <a:rPr lang="en-US" sz="11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_balance;
</a:t>
            </a: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decimal 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Balance
  {
</a:t>
            </a:r>
            <a:r>
              <a:rPr lang="en-US" sz="11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get 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=&gt; _balance;
    set
    {
</a:t>
            </a:r>
            <a:r>
              <a:rPr lang="en-US" sz="11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if 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(value &gt;= 0)
        _balance = value;
    }
  }
</a:t>
            </a:r>
            <a:r>
              <a:rPr lang="en-US" sz="1100" i="1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.NET 8 Auto-property
</a:t>
            </a: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string </a:t>
            </a:r>
            <a:r>
              <a:rPr lang="en-US" sz="11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Owner 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get; set; }
}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349240" y="822960"/>
            <a:ext cx="3520440" cy="868680"/>
          </a:xfrm>
          <a:prstGeom prst="rect">
            <a:avLst/>
          </a:prstGeom>
          <a:solidFill>
            <a:srgbClr val="132438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349240" y="822960"/>
            <a:ext cx="64008" cy="868680"/>
          </a:xfrm>
          <a:prstGeom prst="rect">
            <a:avLst/>
          </a:prstGeom>
          <a:solidFill>
            <a:srgbClr val="00BFA5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0" y="8686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F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0" y="1170432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4FD"/>
                </a:solidFill>
              </a:rPr>
              <a:t>Returns the value — runs when you read the property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349240" y="1810512"/>
            <a:ext cx="3520440" cy="868680"/>
          </a:xfrm>
          <a:prstGeom prst="rect">
            <a:avLst/>
          </a:prstGeom>
          <a:solidFill>
            <a:srgbClr val="132438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349240" y="1810512"/>
            <a:ext cx="64008" cy="868680"/>
          </a:xfrm>
          <a:prstGeom prst="rect">
            <a:avLst/>
          </a:prstGeom>
          <a:solidFill>
            <a:srgbClr val="1B6CA8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0" y="185623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6C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86400" y="2157984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4FD"/>
                </a:solidFill>
              </a:rPr>
              <a:t>Receives the new value — runs when you assign to the property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349240" y="2798064"/>
            <a:ext cx="3520440" cy="868680"/>
          </a:xfrm>
          <a:prstGeom prst="rect">
            <a:avLst/>
          </a:prstGeom>
          <a:solidFill>
            <a:srgbClr val="132438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349240" y="2798064"/>
            <a:ext cx="64008" cy="86868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0" y="284378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Auto-Property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486400" y="3145536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4FD"/>
                </a:solidFill>
              </a:rPr>
              <a:t>public string Name { get; set; } — C# handles the field for you!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349240" y="3785616"/>
            <a:ext cx="3520440" cy="868680"/>
          </a:xfrm>
          <a:prstGeom prst="rect">
            <a:avLst/>
          </a:prstGeom>
          <a:solidFill>
            <a:srgbClr val="132438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349240" y="3785616"/>
            <a:ext cx="64008" cy="868680"/>
          </a:xfrm>
          <a:prstGeom prst="rect">
            <a:avLst/>
          </a:prstGeom>
          <a:solidFill>
            <a:srgbClr val="7C4DFF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0" y="383133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C4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Init-only (.NET 8)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486400" y="413308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4FD"/>
                </a:solidFill>
              </a:rPr>
              <a:t>public string Id { get; init; } — Set once, then immutable!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349240" y="4709160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i="1" dirty="0">
                <a:solidFill>
                  <a:srgbClr val="FF6B35"/>
                </a:solidFill>
              </a:rPr>
              <a:t>Properties protect your data — always validate inside set!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0BFA5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B2A"/>
                </a:solidFill>
              </a:rPr>
              <a:t>🛡️  Access Modifiers — Who Can See What?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795528"/>
            <a:ext cx="8595360" cy="749808"/>
          </a:xfrm>
          <a:prstGeom prst="rect">
            <a:avLst/>
          </a:prstGeom>
          <a:solidFill>
            <a:srgbClr val="132438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795528"/>
            <a:ext cx="64008" cy="749808"/>
          </a:xfrm>
          <a:prstGeom prst="rect">
            <a:avLst/>
          </a:prstGeom>
          <a:solidFill>
            <a:srgbClr val="00BFA5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950976"/>
            <a:ext cx="1645920" cy="320040"/>
          </a:xfrm>
          <a:prstGeom prst="rect">
            <a:avLst/>
          </a:prstGeom>
          <a:solidFill>
            <a:srgbClr val="00BFA5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950976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240280" y="8229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BFA5"/>
                </a:solidFill>
              </a:rPr>
              <a:t>Everywhere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2240280" y="1161288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BEC5"/>
                </a:solidFill>
              </a:rPr>
              <a:t>Anyone can access — use for APIs and properties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349240" y="950976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string Name { get; set; }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4320" y="1636776"/>
            <a:ext cx="8595360" cy="749808"/>
          </a:xfrm>
          <a:prstGeom prst="rect">
            <a:avLst/>
          </a:prstGeom>
          <a:solidFill>
            <a:srgbClr val="132438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74320" y="1636776"/>
            <a:ext cx="64008" cy="749808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3" name="Shape 11"/>
          <p:cNvSpPr/>
          <p:nvPr/>
        </p:nvSpPr>
        <p:spPr>
          <a:xfrm>
            <a:off x="457200" y="1792224"/>
            <a:ext cx="1645920" cy="32004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1792224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240280" y="166420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6B35"/>
                </a:solidFill>
              </a:rPr>
              <a:t>Same class only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2240280" y="2002536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BEC5"/>
                </a:solidFill>
              </a:rPr>
              <a:t>Default for fields — safest option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349240" y="1792224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 decimal _balance;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74320" y="2478024"/>
            <a:ext cx="8595360" cy="749808"/>
          </a:xfrm>
          <a:prstGeom prst="rect">
            <a:avLst/>
          </a:prstGeom>
          <a:solidFill>
            <a:srgbClr val="132438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74320" y="2478024"/>
            <a:ext cx="64008" cy="749808"/>
          </a:xfrm>
          <a:prstGeom prst="rect">
            <a:avLst/>
          </a:prstGeom>
          <a:solidFill>
            <a:srgbClr val="1B6CA8"/>
          </a:solidFill>
          <a:ln/>
        </p:spPr>
      </p:sp>
      <p:sp>
        <p:nvSpPr>
          <p:cNvPr id="20" name="Shape 18"/>
          <p:cNvSpPr/>
          <p:nvPr/>
        </p:nvSpPr>
        <p:spPr>
          <a:xfrm>
            <a:off x="457200" y="2633472"/>
            <a:ext cx="1645920" cy="320040"/>
          </a:xfrm>
          <a:prstGeom prst="rect">
            <a:avLst/>
          </a:prstGeom>
          <a:solidFill>
            <a:srgbClr val="1B6CA8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2633472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protected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240280" y="2505456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6CA8"/>
                </a:solidFill>
              </a:rPr>
              <a:t>Class + subclasses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2240280" y="2843784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BEC5"/>
                </a:solidFill>
              </a:rPr>
              <a:t>Inherited classes can access — used in inheritance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349240" y="2633472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protected void Log(string msg) { }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74320" y="3319272"/>
            <a:ext cx="8595360" cy="749808"/>
          </a:xfrm>
          <a:prstGeom prst="rect">
            <a:avLst/>
          </a:prstGeom>
          <a:solidFill>
            <a:srgbClr val="132438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74320" y="3319272"/>
            <a:ext cx="64008" cy="749808"/>
          </a:xfrm>
          <a:prstGeom prst="rect">
            <a:avLst/>
          </a:prstGeom>
          <a:solidFill>
            <a:srgbClr val="7C4DFF"/>
          </a:solidFill>
          <a:ln/>
        </p:spPr>
      </p:sp>
      <p:sp>
        <p:nvSpPr>
          <p:cNvPr id="27" name="Shape 25"/>
          <p:cNvSpPr/>
          <p:nvPr/>
        </p:nvSpPr>
        <p:spPr>
          <a:xfrm>
            <a:off x="457200" y="3474720"/>
            <a:ext cx="1645920" cy="320040"/>
          </a:xfrm>
          <a:prstGeom prst="rect">
            <a:avLst/>
          </a:prstGeom>
          <a:solidFill>
            <a:srgbClr val="7C4DFF"/>
          </a:solidFill>
          <a:ln/>
        </p:spPr>
      </p:sp>
      <p:sp>
        <p:nvSpPr>
          <p:cNvPr id="28" name="Text 26"/>
          <p:cNvSpPr/>
          <p:nvPr/>
        </p:nvSpPr>
        <p:spPr>
          <a:xfrm>
            <a:off x="457200" y="34747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internal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2240280" y="3346704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7C4DFF"/>
                </a:solidFill>
              </a:rPr>
              <a:t>Same project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2240280" y="3685032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BEC5"/>
                </a:solidFill>
              </a:rPr>
              <a:t>Visible inside your .NET project, hidden from others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349240" y="3474720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internal class Helper { }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274320" y="4160520"/>
            <a:ext cx="8595360" cy="749808"/>
          </a:xfrm>
          <a:prstGeom prst="rect">
            <a:avLst/>
          </a:prstGeom>
          <a:solidFill>
            <a:srgbClr val="132438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274320" y="4160520"/>
            <a:ext cx="64008" cy="749808"/>
          </a:xfrm>
          <a:prstGeom prst="rect">
            <a:avLst/>
          </a:prstGeom>
          <a:solidFill>
            <a:srgbClr val="FF8A65"/>
          </a:solidFill>
          <a:ln/>
        </p:spPr>
      </p:sp>
      <p:sp>
        <p:nvSpPr>
          <p:cNvPr id="34" name="Shape 32"/>
          <p:cNvSpPr/>
          <p:nvPr/>
        </p:nvSpPr>
        <p:spPr>
          <a:xfrm>
            <a:off x="457200" y="4315968"/>
            <a:ext cx="1645920" cy="320040"/>
          </a:xfrm>
          <a:prstGeom prst="rect">
            <a:avLst/>
          </a:prstGeom>
          <a:solidFill>
            <a:srgbClr val="FF8A65"/>
          </a:solidFill>
          <a:ln/>
        </p:spPr>
      </p:sp>
      <p:sp>
        <p:nvSpPr>
          <p:cNvPr id="35" name="Text 33"/>
          <p:cNvSpPr/>
          <p:nvPr/>
        </p:nvSpPr>
        <p:spPr>
          <a:xfrm>
            <a:off x="457200" y="4315968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protected internal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2240280" y="418795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8A65"/>
                </a:solidFill>
              </a:rPr>
              <a:t>Project + subclasses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2240280" y="452628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BEC5"/>
                </a:solidFill>
              </a:rPr>
              <a:t>Combination of protected and internal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349240" y="4315968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protected internal void Init() { }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7C4DF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🫙  Data Hiding — The Real Power of Encapsulation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8595360" cy="685800"/>
          </a:xfrm>
          <a:prstGeom prst="rect">
            <a:avLst/>
          </a:prstGeom>
          <a:solidFill>
            <a:srgbClr val="132438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82296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E8F4FD"/>
                </a:solidFill>
              </a:rPr>
              <a:t>🏦  Think of a bank ATM — You can deposit/withdraw, but you can't directly touch the vault. Data hiding works the same way!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627632"/>
            <a:ext cx="4114800" cy="3200400"/>
          </a:xfrm>
          <a:prstGeom prst="rect">
            <a:avLst/>
          </a:prstGeom>
          <a:solidFill>
            <a:srgbClr val="1A0A0A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627632"/>
            <a:ext cx="4114800" cy="347472"/>
          </a:xfrm>
          <a:prstGeom prst="rect">
            <a:avLst/>
          </a:prstGeom>
          <a:solidFill>
            <a:srgbClr val="B71C1C"/>
          </a:solidFill>
          <a:ln/>
        </p:spPr>
      </p:sp>
      <p:sp>
        <p:nvSpPr>
          <p:cNvPr id="8" name="Text 6"/>
          <p:cNvSpPr/>
          <p:nvPr/>
        </p:nvSpPr>
        <p:spPr>
          <a:xfrm>
            <a:off x="320040" y="1627632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❌  WITHOUT Data Hiding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1480" y="2029968"/>
            <a:ext cx="37490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Person
{
</a:t>
            </a: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int </a:t>
            </a:r>
            <a:r>
              <a:rPr lang="en-US" sz="11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Age;
}
</a:t>
            </a:r>
            <a:r>
              <a:rPr lang="en-US" sz="1100" i="1" dirty="0">
                <a:solidFill>
                  <a:srgbClr val="EF9A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Danger! Anyone can do:
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p.Age = -500;  </a:t>
            </a:r>
            <a:r>
              <a:rPr lang="en-US" sz="1100" i="1" dirty="0">
                <a:solidFill>
                  <a:srgbClr val="EF9A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😱 No validation!
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1627632"/>
            <a:ext cx="4114800" cy="3200400"/>
          </a:xfrm>
          <a:prstGeom prst="rect">
            <a:avLst/>
          </a:prstGeom>
          <a:solidFill>
            <a:srgbClr val="0A1A0A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1627632"/>
            <a:ext cx="4114800" cy="347472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2" name="Text 10"/>
          <p:cNvSpPr/>
          <p:nvPr/>
        </p:nvSpPr>
        <p:spPr>
          <a:xfrm>
            <a:off x="4800600" y="1627632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✅  WITH Data Hiding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92040" y="2029968"/>
            <a:ext cx="38404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Person
{
</a:t>
            </a: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private int </a:t>
            </a:r>
            <a:r>
              <a:rPr lang="en-US" sz="11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_age;
</a:t>
            </a: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int 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
  {
</a:t>
            </a:r>
            <a:r>
              <a:rPr lang="en-US" sz="11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get 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=&gt; _age;
    set
    {
</a:t>
            </a:r>
            <a:r>
              <a:rPr lang="en-US" sz="11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if 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(value &gt;= 0 &amp;&amp; value &lt;= 150)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_age = value;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74320" y="466344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00BFA5"/>
                </a:solidFill>
              </a:rPr>
              <a:t>🔑  Key Benefit: Invalid data can NEVER enter your object. Your code stays reliable!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6CA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🧬  What is Inheritance?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8595360" cy="594360"/>
          </a:xfrm>
          <a:prstGeom prst="rect">
            <a:avLst/>
          </a:prstGeom>
          <a:solidFill>
            <a:srgbClr val="132438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8229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E8F4FD"/>
                </a:solidFill>
              </a:rPr>
              <a:t>👨‍👩‍👧  Like a child inheriting traits from parents — a subclass inherits properties &amp; methods from its parent class, and can add its own!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0" y="1554480"/>
            <a:ext cx="2743200" cy="777240"/>
          </a:xfrm>
          <a:prstGeom prst="rect">
            <a:avLst/>
          </a:prstGeom>
          <a:solidFill>
            <a:srgbClr val="1B6CA8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200400" y="1554480"/>
            <a:ext cx="2743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Animal  (Base Class)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218688" y="2359152"/>
            <a:ext cx="27066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0BEC5"/>
                </a:solidFill>
              </a:rPr>
              <a:t>+ Name, Age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B0BEC5"/>
                </a:solidFill>
              </a:rPr>
              <a:t>+ MakeSound()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474720" y="2852928"/>
            <a:ext cx="0" cy="640080"/>
          </a:xfrm>
          <a:prstGeom prst="line">
            <a:avLst/>
          </a:prstGeom>
          <a:noFill/>
          <a:ln w="25400">
            <a:solidFill>
              <a:srgbClr val="FF6B35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5669280" y="2852928"/>
            <a:ext cx="1645920" cy="640080"/>
          </a:xfrm>
          <a:prstGeom prst="line">
            <a:avLst/>
          </a:prstGeom>
          <a:noFill/>
          <a:ln w="25400">
            <a:solidFill>
              <a:srgbClr val="FF6B35"/>
            </a:solidFill>
            <a:prstDash val="dash"/>
          </a:ln>
        </p:spPr>
      </p:sp>
      <p:sp>
        <p:nvSpPr>
          <p:cNvPr id="11" name="Shape 9"/>
          <p:cNvSpPr/>
          <p:nvPr/>
        </p:nvSpPr>
        <p:spPr>
          <a:xfrm>
            <a:off x="4572000" y="2852928"/>
            <a:ext cx="0" cy="640080"/>
          </a:xfrm>
          <a:prstGeom prst="line">
            <a:avLst/>
          </a:prstGeom>
          <a:noFill/>
          <a:ln w="25400">
            <a:solidFill>
              <a:srgbClr val="FF6B35"/>
            </a:solidFill>
            <a:prstDash val="dash"/>
          </a:ln>
        </p:spPr>
      </p:sp>
      <p:sp>
        <p:nvSpPr>
          <p:cNvPr id="12" name="Shape 10"/>
          <p:cNvSpPr/>
          <p:nvPr/>
        </p:nvSpPr>
        <p:spPr>
          <a:xfrm>
            <a:off x="457200" y="3520440"/>
            <a:ext cx="2743200" cy="685800"/>
          </a:xfrm>
          <a:prstGeom prst="rect">
            <a:avLst/>
          </a:prstGeom>
          <a:solidFill>
            <a:srgbClr val="132438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3520440"/>
            <a:ext cx="2743200" cy="4572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35661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Dog  (Subclass)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388620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0BEC5"/>
                </a:solidFill>
              </a:rPr>
              <a:t>+ Breed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B0BEC5"/>
                </a:solidFill>
              </a:rPr>
              <a:t>+ Fetch()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00400" y="3520440"/>
            <a:ext cx="2743200" cy="685800"/>
          </a:xfrm>
          <a:prstGeom prst="rect">
            <a:avLst/>
          </a:prstGeom>
          <a:solidFill>
            <a:srgbClr val="132438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0" y="3520440"/>
            <a:ext cx="2743200" cy="4572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8" name="Text 16"/>
          <p:cNvSpPr/>
          <p:nvPr/>
        </p:nvSpPr>
        <p:spPr>
          <a:xfrm>
            <a:off x="3200400" y="35661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Cat  (Subclass)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200400" y="388620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0BEC5"/>
                </a:solidFill>
              </a:rPr>
              <a:t>+ Indoor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B0BEC5"/>
                </a:solidFill>
              </a:rPr>
              <a:t>+ Purr()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943600" y="3520440"/>
            <a:ext cx="2743200" cy="685800"/>
          </a:xfrm>
          <a:prstGeom prst="rect">
            <a:avLst/>
          </a:prstGeom>
          <a:solidFill>
            <a:srgbClr val="132438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943600" y="3520440"/>
            <a:ext cx="2743200" cy="4572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22" name="Text 20"/>
          <p:cNvSpPr/>
          <p:nvPr/>
        </p:nvSpPr>
        <p:spPr>
          <a:xfrm>
            <a:off x="5943600" y="35661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Bird  (Subclass)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943600" y="388620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0BEC5"/>
                </a:solidFill>
              </a:rPr>
              <a:t>+ Wingspan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B0BEC5"/>
                </a:solidFill>
              </a:rPr>
              <a:t>+ Fly()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74320" y="466344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FF6B35"/>
                </a:solidFill>
              </a:rPr>
              <a:t>💡 Keyword: class Dog : Animal  —  Colon means 'inherits from'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E45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6B35"/>
                </a:solidFill>
              </a:rPr>
              <a:t>💻  Inheritance in C# — Code Walk-through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4114800" cy="4114800"/>
          </a:xfrm>
          <a:prstGeom prst="rect">
            <a:avLst/>
          </a:prstGeom>
          <a:solidFill>
            <a:srgbClr val="1A2E45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04672"/>
            <a:ext cx="4114800" cy="320040"/>
          </a:xfrm>
          <a:prstGeom prst="rect">
            <a:avLst/>
          </a:prstGeom>
          <a:solidFill>
            <a:srgbClr val="1B6CA8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804672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Base Class: Animal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47472" y="1161288"/>
            <a:ext cx="393192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</a:t>
            </a: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Animal
{
</a:t>
            </a:r>
            <a:r>
              <a:rPr lang="en-US" sz="10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string </a:t>
            </a:r>
            <a:r>
              <a:rPr lang="en-US" sz="10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 </a:t>
            </a: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get; set; }
</a:t>
            </a:r>
            <a:r>
              <a:rPr lang="en-US" sz="1050" i="1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virtual = can be overridden
</a:t>
            </a:r>
            <a:r>
              <a:rPr lang="en-US" sz="10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virtual void </a:t>
            </a: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MakeSound()
  {
    Console.WriteLine(
      $"{Name} makes a sound.");
  }
</a:t>
            </a:r>
            <a:r>
              <a:rPr lang="en-US" sz="10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void </a:t>
            </a: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Sleep()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Console.WriteLine(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$"{Name} is sleeping.");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709160" y="804672"/>
            <a:ext cx="4160520" cy="4114800"/>
          </a:xfrm>
          <a:prstGeom prst="rect">
            <a:avLst/>
          </a:prstGeom>
          <a:solidFill>
            <a:srgbClr val="1A2E45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09160" y="804672"/>
            <a:ext cx="4160520" cy="32004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0" name="Text 8"/>
          <p:cNvSpPr/>
          <p:nvPr/>
        </p:nvSpPr>
        <p:spPr>
          <a:xfrm>
            <a:off x="4754880" y="804672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Derived Class: Dog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773168" y="1161288"/>
            <a:ext cx="393192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i="1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Dog inherits Animal
</a:t>
            </a:r>
            <a:r>
              <a:rPr lang="en-US" sz="10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</a:t>
            </a:r>
            <a:r>
              <a:rPr lang="en-US" sz="10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Dog </a:t>
            </a: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Animal
{
</a:t>
            </a:r>
            <a:r>
              <a:rPr lang="en-US" sz="10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string </a:t>
            </a:r>
            <a:r>
              <a:rPr lang="en-US" sz="10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Breed </a:t>
            </a: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get; set; }
</a:t>
            </a:r>
            <a:r>
              <a:rPr lang="en-US" sz="1050" i="1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override replaces parent method
</a:t>
            </a:r>
            <a:r>
              <a:rPr lang="en-US" sz="10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override void </a:t>
            </a: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MakeSound()
  {
    Console.WriteLine(
      $"{Name} says: Woof!");
  }
</a:t>
            </a:r>
            <a:r>
              <a:rPr lang="en-US" sz="10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void </a:t>
            </a: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Fetch()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Console.WriteLine("Fetching!");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🎭  What is Polymorphism?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8595360" cy="658368"/>
          </a:xfrm>
          <a:prstGeom prst="rect">
            <a:avLst/>
          </a:prstGeom>
          <a:solidFill>
            <a:srgbClr val="132438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822960"/>
            <a:ext cx="8229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E8F4FD"/>
                </a:solidFill>
              </a:rPr>
              <a:t>Polymorphism = "Many Forms" — The same method call behaves DIFFERENTLY based on the actual object type at runtime.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618488"/>
            <a:ext cx="8595360" cy="1554480"/>
          </a:xfrm>
          <a:prstGeom prst="rect">
            <a:avLst/>
          </a:prstGeom>
          <a:solidFill>
            <a:srgbClr val="132438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618488"/>
            <a:ext cx="64008" cy="1554480"/>
          </a:xfrm>
          <a:prstGeom prst="rect">
            <a:avLst/>
          </a:prstGeom>
          <a:solidFill>
            <a:srgbClr val="1B6CA8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6916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6CA8"/>
                </a:solidFill>
              </a:rPr>
              <a:t>Compile-time (Method Overloading)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200253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B0BEC5"/>
                </a:solidFill>
              </a:rPr>
              <a:t>Same method name, different parameters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2304288"/>
            <a:ext cx="4114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4FD"/>
                </a:solidFill>
              </a:rPr>
              <a:t>C# picks the right version at compile time based on the arguments you pass.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17720" y="1709928"/>
            <a:ext cx="4114800" cy="365760"/>
          </a:xfrm>
          <a:prstGeom prst="rect">
            <a:avLst/>
          </a:prstGeom>
          <a:solidFill>
            <a:srgbClr val="1A2E45"/>
          </a:solidFill>
          <a:ln/>
        </p:spPr>
      </p:sp>
      <p:sp>
        <p:nvSpPr>
          <p:cNvPr id="12" name="Text 10"/>
          <p:cNvSpPr/>
          <p:nvPr/>
        </p:nvSpPr>
        <p:spPr>
          <a:xfrm>
            <a:off x="4709160" y="170992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Add(int a, int b)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17720" y="2167128"/>
            <a:ext cx="4114800" cy="365760"/>
          </a:xfrm>
          <a:prstGeom prst="rect">
            <a:avLst/>
          </a:prstGeom>
          <a:solidFill>
            <a:srgbClr val="1A2E45"/>
          </a:solidFill>
          <a:ln/>
        </p:spPr>
      </p:sp>
      <p:sp>
        <p:nvSpPr>
          <p:cNvPr id="14" name="Text 12"/>
          <p:cNvSpPr/>
          <p:nvPr/>
        </p:nvSpPr>
        <p:spPr>
          <a:xfrm>
            <a:off x="4709160" y="216712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Add(double a, double b)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617720" y="2624328"/>
            <a:ext cx="4114800" cy="365760"/>
          </a:xfrm>
          <a:prstGeom prst="rect">
            <a:avLst/>
          </a:prstGeom>
          <a:solidFill>
            <a:srgbClr val="1A2E45"/>
          </a:solidFill>
          <a:ln/>
        </p:spPr>
      </p:sp>
      <p:sp>
        <p:nvSpPr>
          <p:cNvPr id="16" name="Text 14"/>
          <p:cNvSpPr/>
          <p:nvPr/>
        </p:nvSpPr>
        <p:spPr>
          <a:xfrm>
            <a:off x="4709160" y="262432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Add(int a, int b, int c)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74320" y="3310128"/>
            <a:ext cx="8595360" cy="1554480"/>
          </a:xfrm>
          <a:prstGeom prst="rect">
            <a:avLst/>
          </a:prstGeom>
          <a:solidFill>
            <a:srgbClr val="132438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" y="3310128"/>
            <a:ext cx="64008" cy="155448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33832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6B35"/>
                </a:solidFill>
              </a:rPr>
              <a:t>Runtime (Method Overriding)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57200" y="369417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B0BEC5"/>
                </a:solidFill>
              </a:rPr>
              <a:t>virtual + override keywords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" y="3995928"/>
            <a:ext cx="4114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4FD"/>
                </a:solidFill>
              </a:rPr>
              <a:t>C# decides at runtime which version to call based on the actual object type.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617720" y="3401568"/>
            <a:ext cx="4114800" cy="365760"/>
          </a:xfrm>
          <a:prstGeom prst="rect">
            <a:avLst/>
          </a:prstGeom>
          <a:solidFill>
            <a:srgbClr val="1A2E45"/>
          </a:solidFill>
          <a:ln/>
        </p:spPr>
      </p:sp>
      <p:sp>
        <p:nvSpPr>
          <p:cNvPr id="23" name="Text 21"/>
          <p:cNvSpPr/>
          <p:nvPr/>
        </p:nvSpPr>
        <p:spPr>
          <a:xfrm>
            <a:off x="4709160" y="340156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animal.MakeSound() → Woof!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617720" y="3858768"/>
            <a:ext cx="4114800" cy="365760"/>
          </a:xfrm>
          <a:prstGeom prst="rect">
            <a:avLst/>
          </a:prstGeom>
          <a:solidFill>
            <a:srgbClr val="1A2E45"/>
          </a:solidFill>
          <a:ln/>
        </p:spPr>
      </p:sp>
      <p:sp>
        <p:nvSpPr>
          <p:cNvPr id="25" name="Text 23"/>
          <p:cNvSpPr/>
          <p:nvPr/>
        </p:nvSpPr>
        <p:spPr>
          <a:xfrm>
            <a:off x="4709160" y="385876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animal.MakeSound() → Meow!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617720" y="4315968"/>
            <a:ext cx="4114800" cy="365760"/>
          </a:xfrm>
          <a:prstGeom prst="rect">
            <a:avLst/>
          </a:prstGeom>
          <a:solidFill>
            <a:srgbClr val="1A2E45"/>
          </a:solidFill>
          <a:ln/>
        </p:spPr>
      </p:sp>
      <p:sp>
        <p:nvSpPr>
          <p:cNvPr id="27" name="Text 25"/>
          <p:cNvSpPr/>
          <p:nvPr/>
        </p:nvSpPr>
        <p:spPr>
          <a:xfrm>
            <a:off x="4709160" y="431596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animal.MakeSound() → Tweet!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74320" y="4681728"/>
            <a:ext cx="85953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00BFA5"/>
                </a:solidFill>
              </a:rPr>
              <a:t>💡 Polymorphism makes your code extendable — add new types without changing existing code!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E45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BFA5"/>
                </a:solidFill>
              </a:rPr>
              <a:t>💻  Polymorphism in Action — C# .NET 8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5303520" cy="4114800"/>
          </a:xfrm>
          <a:prstGeom prst="rect">
            <a:avLst/>
          </a:prstGeom>
          <a:solidFill>
            <a:srgbClr val="1A2E45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04672"/>
            <a:ext cx="5303520" cy="274320"/>
          </a:xfrm>
          <a:prstGeom prst="rect">
            <a:avLst/>
          </a:prstGeom>
          <a:solidFill>
            <a:srgbClr val="00BFA5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804672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</a:rPr>
              <a:t>Runtime Polymorphism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84048" y="1124712"/>
            <a:ext cx="502920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All animals in one list!
</a:t>
            </a: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List&lt;</a:t>
            </a:r>
            <a:r>
              <a:rPr lang="en-US" sz="11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Animal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animals = [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new 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Dog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 Name = "Rex" },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new 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 Name = "Whiskers" },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new 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Bird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 Name = "Tweety" }
];
</a:t>
            </a:r>
            <a:r>
              <a:rPr lang="en-US" sz="1100" i="1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Same call → different behavior!
</a:t>
            </a:r>
            <a:r>
              <a:rPr lang="en-US" sz="11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foreach 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(var animal in animals)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animal.MakeSound();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 Rex: Woof!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 Whiskers: Meow!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 Tweety: Tweet!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760720" y="804672"/>
            <a:ext cx="3108960" cy="868680"/>
          </a:xfrm>
          <a:prstGeom prst="rect">
            <a:avLst/>
          </a:prstGeom>
          <a:solidFill>
            <a:srgbClr val="132438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760720" y="804672"/>
            <a:ext cx="54864" cy="868680"/>
          </a:xfrm>
          <a:prstGeom prst="rect">
            <a:avLst/>
          </a:prstGeom>
          <a:solidFill>
            <a:srgbClr val="1B6CA8"/>
          </a:solidFill>
          <a:ln/>
        </p:spPr>
      </p:sp>
      <p:sp>
        <p:nvSpPr>
          <p:cNvPr id="10" name="Text 8"/>
          <p:cNvSpPr/>
          <p:nvPr/>
        </p:nvSpPr>
        <p:spPr>
          <a:xfrm>
            <a:off x="5897880" y="85039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6CA8"/>
                </a:solidFill>
              </a:rPr>
              <a:t>One list, many types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897880" y="1152144"/>
            <a:ext cx="283464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</a:rPr>
              <a:t>Store Dog, Cat, Bird all as Animal — because they all inherit from it.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760720" y="1810512"/>
            <a:ext cx="3108960" cy="868680"/>
          </a:xfrm>
          <a:prstGeom prst="rect">
            <a:avLst/>
          </a:prstGeom>
          <a:solidFill>
            <a:srgbClr val="132438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760720" y="1810512"/>
            <a:ext cx="54864" cy="86868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4" name="Text 12"/>
          <p:cNvSpPr/>
          <p:nvPr/>
        </p:nvSpPr>
        <p:spPr>
          <a:xfrm>
            <a:off x="5897880" y="185623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6B35"/>
                </a:solidFill>
              </a:rPr>
              <a:t>Same method, different result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897880" y="2157984"/>
            <a:ext cx="283464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</a:rPr>
              <a:t>MakeSound() is called the same way but does different things per object.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760720" y="2816352"/>
            <a:ext cx="3108960" cy="868680"/>
          </a:xfrm>
          <a:prstGeom prst="rect">
            <a:avLst/>
          </a:prstGeom>
          <a:solidFill>
            <a:srgbClr val="132438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760720" y="2816352"/>
            <a:ext cx="54864" cy="868680"/>
          </a:xfrm>
          <a:prstGeom prst="rect">
            <a:avLst/>
          </a:prstGeom>
          <a:solidFill>
            <a:srgbClr val="00BFA5"/>
          </a:solidFill>
          <a:ln/>
        </p:spPr>
      </p:sp>
      <p:sp>
        <p:nvSpPr>
          <p:cNvPr id="18" name="Text 16"/>
          <p:cNvSpPr/>
          <p:nvPr/>
        </p:nvSpPr>
        <p:spPr>
          <a:xfrm>
            <a:off x="5897880" y="286207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FA5"/>
                </a:solidFill>
              </a:rPr>
              <a:t>Open/Closed Principle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897880" y="3163824"/>
            <a:ext cx="283464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</a:rPr>
              <a:t>Add a new Animal (e.g. Fish) — existing loop code needs ZERO changes!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760720" y="3822192"/>
            <a:ext cx="3108960" cy="868680"/>
          </a:xfrm>
          <a:prstGeom prst="rect">
            <a:avLst/>
          </a:prstGeom>
          <a:solidFill>
            <a:srgbClr val="132438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760720" y="3822192"/>
            <a:ext cx="54864" cy="868680"/>
          </a:xfrm>
          <a:prstGeom prst="rect">
            <a:avLst/>
          </a:prstGeom>
          <a:solidFill>
            <a:srgbClr val="7C4DFF"/>
          </a:solidFill>
          <a:ln/>
        </p:spPr>
      </p:sp>
      <p:sp>
        <p:nvSpPr>
          <p:cNvPr id="22" name="Text 20"/>
          <p:cNvSpPr/>
          <p:nvPr/>
        </p:nvSpPr>
        <p:spPr>
          <a:xfrm>
            <a:off x="5897880" y="386791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C4DFF"/>
                </a:solidFill>
              </a:rPr>
              <a:t>.NET 8 Collection Expressions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897880" y="4169664"/>
            <a:ext cx="283464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</a:rPr>
              <a:t>The [ ] syntax for collections is a modern C# 12 feature in .NET 8!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</a:rPr>
              <a:t>🌍  Real-World Example: Payment System in .NET 8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8595360" cy="4114800"/>
          </a:xfrm>
          <a:prstGeom prst="rect">
            <a:avLst/>
          </a:prstGeom>
          <a:solidFill>
            <a:srgbClr val="1A2E45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914400"/>
            <a:ext cx="822960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80" i="1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Encapsulation + Inheritance + Polymorphism together!
</a:t>
            </a:r>
            <a:r>
              <a:rPr lang="en-US" sz="108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abstract class </a:t>
            </a:r>
            <a:r>
              <a:rPr lang="en-US" sz="108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Payment  </a:t>
            </a:r>
            <a:r>
              <a:rPr lang="en-US" sz="1080" i="1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abstract = can't instantiate directly
{
</a:t>
            </a:r>
            <a:r>
              <a:rPr lang="en-US" sz="108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private decimal </a:t>
            </a:r>
            <a:r>
              <a:rPr lang="en-US" sz="108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_amount;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decimal </a:t>
            </a:r>
            <a:r>
              <a:rPr lang="en-US" sz="108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Amount </a:t>
            </a:r>
            <a:r>
              <a:rPr lang="en-US" sz="10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get =&gt; _amount; set =&gt; _amount = value &gt; 0 ? value : 0; }
</a:t>
            </a:r>
            <a:r>
              <a:rPr lang="en-US" sz="108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abstract void </a:t>
            </a:r>
            <a:r>
              <a:rPr lang="en-US" sz="10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Process();
}
</a:t>
            </a:r>
            <a:r>
              <a:rPr lang="en-US" sz="108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</a:t>
            </a:r>
            <a:r>
              <a:rPr lang="en-US" sz="108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CreditCardPayment </a:t>
            </a:r>
            <a:r>
              <a:rPr lang="en-US" sz="108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Payment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override void 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Process() =&gt; Console.WriteLine(
    $"Credit: ₹{Amount} charged to card.");
}
</a:t>
            </a:r>
            <a:r>
              <a:rPr lang="en-US" sz="108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</a:t>
            </a:r>
            <a:r>
              <a:rPr lang="en-US" sz="108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UpiPayment </a:t>
            </a:r>
            <a:r>
              <a:rPr lang="en-US" sz="108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Payment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override void 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Process() =&gt; Console.WriteLine(
    $"UPI: ₹{Amount} via UPI.");
}
</a:t>
            </a:r>
            <a:r>
              <a:rPr lang="en-US" sz="1080" i="1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Usage — polymorphism magic!
</a:t>
            </a:r>
            <a:r>
              <a:rPr lang="en-US" sz="10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Payment[] payments = [new </a:t>
            </a:r>
            <a:r>
              <a:rPr lang="en-US" sz="108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CreditCardPayment</a:t>
            </a:r>
            <a:r>
              <a:rPr lang="en-US" sz="10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 Amount = 500 }, new </a:t>
            </a:r>
            <a:r>
              <a:rPr lang="en-US" sz="108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UpiPayment</a:t>
            </a:r>
            <a:r>
              <a:rPr lang="en-US" sz="10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 Amount = 100 }];
</a:t>
            </a:r>
            <a:r>
              <a:rPr lang="en-US" sz="108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foreach </a:t>
            </a:r>
            <a:r>
              <a:rPr lang="en-US" sz="10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(var p in payments) p.Process();
</a:t>
            </a:r>
            <a:endParaRPr lang="en-US" sz="1080" dirty="0"/>
          </a:p>
        </p:txBody>
      </p:sp>
      <p:sp>
        <p:nvSpPr>
          <p:cNvPr id="6" name="Text 4"/>
          <p:cNvSpPr/>
          <p:nvPr/>
        </p:nvSpPr>
        <p:spPr>
          <a:xfrm>
            <a:off x="274320" y="4681728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00BFA5"/>
                </a:solidFill>
              </a:rPr>
              <a:t>This single pattern powers real banking apps, e-commerce platforms, and enterprise .NET systems!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6CA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📋  Quick Recap — Key Takeaways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2697480" cy="1920240"/>
          </a:xfrm>
          <a:prstGeom prst="rect">
            <a:avLst/>
          </a:prstGeom>
          <a:solidFill>
            <a:srgbClr val="132438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68680"/>
            <a:ext cx="2697480" cy="54864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6" name="Text 4"/>
          <p:cNvSpPr/>
          <p:nvPr/>
        </p:nvSpPr>
        <p:spPr>
          <a:xfrm>
            <a:off x="384048" y="96012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6B35"/>
                </a:solidFill>
              </a:rPr>
              <a:t>🔒  Encapsulation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84048" y="1371600"/>
            <a:ext cx="25146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4FD"/>
                </a:solidFill>
              </a:rPr>
              <a:t>• Bundle data + methods in a class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8F4FD"/>
                </a:solidFill>
              </a:rPr>
              <a:t>• Use private fields + public properties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8F4FD"/>
                </a:solidFill>
              </a:rPr>
              <a:t>• Validate data in the set accessor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182112" y="868680"/>
            <a:ext cx="2697480" cy="1920240"/>
          </a:xfrm>
          <a:prstGeom prst="rect">
            <a:avLst/>
          </a:prstGeom>
          <a:solidFill>
            <a:srgbClr val="132438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182112" y="868680"/>
            <a:ext cx="2697480" cy="54864"/>
          </a:xfrm>
          <a:prstGeom prst="rect">
            <a:avLst/>
          </a:prstGeom>
          <a:solidFill>
            <a:srgbClr val="1B6CA8"/>
          </a:solidFill>
          <a:ln/>
        </p:spPr>
      </p:sp>
      <p:sp>
        <p:nvSpPr>
          <p:cNvPr id="10" name="Text 8"/>
          <p:cNvSpPr/>
          <p:nvPr/>
        </p:nvSpPr>
        <p:spPr>
          <a:xfrm>
            <a:off x="3291840" y="96012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6CA8"/>
                </a:solidFill>
              </a:rPr>
              <a:t>🔑  Properties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291840" y="1371600"/>
            <a:ext cx="25146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4FD"/>
                </a:solidFill>
              </a:rPr>
              <a:t>• get = read the value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8F4FD"/>
                </a:solidFill>
              </a:rPr>
              <a:t>• set = write with validation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8F4FD"/>
                </a:solidFill>
              </a:rPr>
              <a:t>• Auto-properties: { get; set; }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089904" y="868680"/>
            <a:ext cx="2697480" cy="1920240"/>
          </a:xfrm>
          <a:prstGeom prst="rect">
            <a:avLst/>
          </a:prstGeom>
          <a:solidFill>
            <a:srgbClr val="132438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089904" y="868680"/>
            <a:ext cx="2697480" cy="54864"/>
          </a:xfrm>
          <a:prstGeom prst="rect">
            <a:avLst/>
          </a:prstGeom>
          <a:solidFill>
            <a:srgbClr val="00BFA5"/>
          </a:solidFill>
          <a:ln/>
        </p:spPr>
      </p:sp>
      <p:sp>
        <p:nvSpPr>
          <p:cNvPr id="14" name="Text 12"/>
          <p:cNvSpPr/>
          <p:nvPr/>
        </p:nvSpPr>
        <p:spPr>
          <a:xfrm>
            <a:off x="6199632" y="96012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FA5"/>
                </a:solidFill>
              </a:rPr>
              <a:t>🛡️  Access Modifiers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199632" y="1371600"/>
            <a:ext cx="25146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4FD"/>
                </a:solidFill>
              </a:rPr>
              <a:t>• public = accessible everywhere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8F4FD"/>
                </a:solidFill>
              </a:rPr>
              <a:t>• private = class only (default for fields)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8F4FD"/>
                </a:solidFill>
              </a:rPr>
              <a:t>• protected = class + subclasses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74320" y="2971800"/>
            <a:ext cx="2697480" cy="1920240"/>
          </a:xfrm>
          <a:prstGeom prst="rect">
            <a:avLst/>
          </a:prstGeom>
          <a:solidFill>
            <a:srgbClr val="132438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2971800"/>
            <a:ext cx="2697480" cy="54864"/>
          </a:xfrm>
          <a:prstGeom prst="rect">
            <a:avLst/>
          </a:prstGeom>
          <a:solidFill>
            <a:srgbClr val="7C4DFF"/>
          </a:solidFill>
          <a:ln/>
        </p:spPr>
      </p:sp>
      <p:sp>
        <p:nvSpPr>
          <p:cNvPr id="18" name="Text 16"/>
          <p:cNvSpPr/>
          <p:nvPr/>
        </p:nvSpPr>
        <p:spPr>
          <a:xfrm>
            <a:off x="384048" y="306324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C4DFF"/>
                </a:solidFill>
              </a:rPr>
              <a:t>🧬  Inheritance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84048" y="3474720"/>
            <a:ext cx="25146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4FD"/>
                </a:solidFill>
              </a:rPr>
              <a:t>• class Dog : Animal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8F4FD"/>
                </a:solidFill>
              </a:rPr>
              <a:t>• Reuse parent code automatically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8F4FD"/>
                </a:solidFill>
              </a:rPr>
              <a:t>• Add new features in child class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182112" y="2971800"/>
            <a:ext cx="2697480" cy="1920240"/>
          </a:xfrm>
          <a:prstGeom prst="rect">
            <a:avLst/>
          </a:prstGeom>
          <a:solidFill>
            <a:srgbClr val="132438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182112" y="2971800"/>
            <a:ext cx="2697480" cy="54864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22" name="Text 20"/>
          <p:cNvSpPr/>
          <p:nvPr/>
        </p:nvSpPr>
        <p:spPr>
          <a:xfrm>
            <a:off x="3291840" y="306324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6B35"/>
                </a:solidFill>
              </a:rPr>
              <a:t>🎭  Polymorphism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291840" y="3474720"/>
            <a:ext cx="25146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4FD"/>
                </a:solidFill>
              </a:rPr>
              <a:t>• virtual + override keywords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8F4FD"/>
                </a:solidFill>
              </a:rPr>
              <a:t>• Same call → different behavior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8F4FD"/>
                </a:solidFill>
              </a:rPr>
              <a:t>• Makes code extensible &amp; flexible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1B6CA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🚀  You're Now OOP-Ready in C# .NET 8!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1828800" y="1097280"/>
            <a:ext cx="5486400" cy="640080"/>
          </a:xfrm>
          <a:prstGeom prst="rect">
            <a:avLst/>
          </a:prstGeom>
          <a:solidFill>
            <a:srgbClr val="132438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920240" y="1115568"/>
            <a:ext cx="5303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B0BEC5"/>
                </a:solidFill>
              </a:rPr>
              <a:t>"Good OOP code is like a well-organized kitchen — everything has its place, and nothing gets contaminated."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87452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6B35"/>
                </a:solidFill>
              </a:rPr>
              <a:t>Your Next Steps: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02920" y="2331720"/>
            <a:ext cx="8138160" cy="502920"/>
          </a:xfrm>
          <a:prstGeom prst="rect">
            <a:avLst/>
          </a:prstGeom>
          <a:solidFill>
            <a:srgbClr val="132438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02920" y="2331720"/>
            <a:ext cx="502920" cy="50292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2331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</a:rPr>
              <a:t>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43000" y="2377440"/>
            <a:ext cx="7360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4FD"/>
                </a:solidFill>
              </a:rPr>
              <a:t>Practice writing classes with private fields + properties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02920" y="2926080"/>
            <a:ext cx="8138160" cy="502920"/>
          </a:xfrm>
          <a:prstGeom prst="rect">
            <a:avLst/>
          </a:prstGeom>
          <a:solidFill>
            <a:srgbClr val="132438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02920" y="2926080"/>
            <a:ext cx="502920" cy="502920"/>
          </a:xfrm>
          <a:prstGeom prst="rect">
            <a:avLst/>
          </a:prstGeom>
          <a:solidFill>
            <a:srgbClr val="1B6CA8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2926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143000" y="2971800"/>
            <a:ext cx="7360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4FD"/>
                </a:solidFill>
              </a:rPr>
              <a:t>Create a base class and extend it with 2-3 subclasses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02920" y="3520440"/>
            <a:ext cx="8138160" cy="502920"/>
          </a:xfrm>
          <a:prstGeom prst="rect">
            <a:avLst/>
          </a:prstGeom>
          <a:solidFill>
            <a:srgbClr val="132438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02920" y="3520440"/>
            <a:ext cx="502920" cy="502920"/>
          </a:xfrm>
          <a:prstGeom prst="rect">
            <a:avLst/>
          </a:prstGeom>
          <a:solidFill>
            <a:srgbClr val="00BFA5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" y="3520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143000" y="3566160"/>
            <a:ext cx="7360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4FD"/>
                </a:solidFill>
              </a:rPr>
              <a:t>Use a List&lt;BaseClass&gt; and call overridden methods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02920" y="4114800"/>
            <a:ext cx="8138160" cy="502920"/>
          </a:xfrm>
          <a:prstGeom prst="rect">
            <a:avLst/>
          </a:prstGeom>
          <a:solidFill>
            <a:srgbClr val="132438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02920" y="4114800"/>
            <a:ext cx="502920" cy="502920"/>
          </a:xfrm>
          <a:prstGeom prst="rect">
            <a:avLst/>
          </a:prstGeom>
          <a:solidFill>
            <a:srgbClr val="7C4DFF"/>
          </a:solidFill>
          <a:ln/>
        </p:spPr>
      </p:sp>
      <p:sp>
        <p:nvSpPr>
          <p:cNvPr id="22" name="Text 20"/>
          <p:cNvSpPr/>
          <p:nvPr/>
        </p:nvSpPr>
        <p:spPr>
          <a:xfrm>
            <a:off x="502920" y="4114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</a:rPr>
              <a:t>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143000" y="4160520"/>
            <a:ext cx="7360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4FD"/>
                </a:solidFill>
              </a:rPr>
              <a:t>Build a mini project: Library, Zoo, or Shop system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6CA8"/>
                </a:solidFill>
              </a:rPr>
              <a:t>Happy Coding in C# .NET 8! 💻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1563</Words>
  <Application>Microsoft Office PowerPoint</Application>
  <PresentationFormat>On-screen Show (16:9)</PresentationFormat>
  <Paragraphs>185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Encapsulation, Properties, Inheritance &amp; Polymorphism in C# .NET 8</dc:title>
  <dc:subject>PptxGenJS Presentation</dc:subject>
  <dc:creator>PptxGenJS</dc:creator>
  <cp:lastModifiedBy>Venkatgiri Ganesh T</cp:lastModifiedBy>
  <cp:revision>2</cp:revision>
  <dcterms:created xsi:type="dcterms:W3CDTF">2026-03-10T16:23:40Z</dcterms:created>
  <dcterms:modified xsi:type="dcterms:W3CDTF">2026-03-11T16:16:31Z</dcterms:modified>
</cp:coreProperties>
</file>